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82880"/>
            <a:ext cx="1097280" cy="36576"/>
          </a:xfrm>
          <a:prstGeom prst="rect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37360" y="182880"/>
            <a:ext cx="1097280" cy="36576"/>
          </a:xfrm>
          <a:prstGeom prst="rect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182880"/>
            <a:ext cx="1097280" cy="36576"/>
          </a:xfrm>
          <a:prstGeom prst="rect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63440" y="182880"/>
            <a:ext cx="1097280" cy="36576"/>
          </a:xfrm>
          <a:prstGeom prst="rect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0" y="182880"/>
            <a:ext cx="1097280" cy="36576"/>
          </a:xfrm>
          <a:prstGeom prst="rect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0" y="182880"/>
            <a:ext cx="1097280" cy="36576"/>
          </a:xfrm>
          <a:prstGeom prst="rect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5486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1200" kern="0" dirty="0">
                <a:solidFill>
                  <a:srgbClr val="F5F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411480" y="14173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1200" kern="0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BOT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411480" y="2514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Business Guide — From Zero to ₹ in Your Account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39136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System  ·  Customer Booking  ·  Lead Credits  ·  Payment Flow  ·  Revenue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F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the entire system works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5-step overview — fully automated, no manual work needed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298448"/>
            <a:ext cx="1600200" cy="3291840"/>
          </a:xfrm>
          <a:prstGeom prst="rect">
            <a:avLst/>
          </a:prstGeom>
          <a:solidFill>
            <a:srgbClr val="1E293B"/>
          </a:solidFill>
          <a:ln w="1016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98448"/>
            <a:ext cx="160020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1417320"/>
            <a:ext cx="457200" cy="457200"/>
          </a:xfrm>
          <a:prstGeom prst="ellipse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93192" y="199339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Vendor Registers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578608"/>
            <a:ext cx="1417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WhatsApps the bot number. Enters name, service &amp; location. Gets 5 FREE leads instantly — no app, no payment.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39112" y="1298448"/>
            <a:ext cx="1600200" cy="3291840"/>
          </a:xfrm>
          <a:prstGeom prst="rect">
            <a:avLst/>
          </a:prstGeom>
          <a:solidFill>
            <a:srgbClr val="1E293B"/>
          </a:solidFill>
          <a:ln w="10160">
            <a:solidFill>
              <a:srgbClr val="5B8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39112" y="1298448"/>
            <a:ext cx="1600200" cy="73152"/>
          </a:xfrm>
          <a:prstGeom prst="rect">
            <a:avLst/>
          </a:prstGeom>
          <a:solidFill>
            <a:srgbClr val="5B8FFF"/>
          </a:solidFill>
          <a:ln w="12700">
            <a:solidFill>
              <a:srgbClr val="5B8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15184" y="1417320"/>
            <a:ext cx="457200" cy="457200"/>
          </a:xfrm>
          <a:prstGeom prst="ellipse">
            <a:avLst/>
          </a:prstGeom>
          <a:solidFill>
            <a:srgbClr val="5B8FFF">
              <a:alpha val="20000"/>
            </a:srgbClr>
          </a:solidFill>
          <a:ln w="12700">
            <a:solidFill>
              <a:srgbClr val="5B8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15184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8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112264" y="199339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Books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30552" y="2578608"/>
            <a:ext cx="1417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messages the same bot number. Picks a service, shares their live location.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58184" y="1298448"/>
            <a:ext cx="1600200" cy="3291840"/>
          </a:xfrm>
          <a:prstGeom prst="rect">
            <a:avLst/>
          </a:prstGeom>
          <a:solidFill>
            <a:srgbClr val="1E293B"/>
          </a:solidFill>
          <a:ln w="1016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58184" y="1298448"/>
            <a:ext cx="160020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34256" y="1417320"/>
            <a:ext cx="457200" cy="457200"/>
          </a:xfrm>
          <a:prstGeom prst="ellipse">
            <a:avLst/>
          </a:prstGeom>
          <a:solidFill>
            <a:srgbClr val="FF6B35">
              <a:alpha val="2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34256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831336" y="199339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Bot Finds Nearest Vendor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49624" y="2578608"/>
            <a:ext cx="1417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runs 1 km radius check. Sends customer name, phone, address + Google Maps pin to the nearest vendor.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77256" y="1298448"/>
            <a:ext cx="1600200" cy="3291840"/>
          </a:xfrm>
          <a:prstGeom prst="rect">
            <a:avLst/>
          </a:prstGeom>
          <a:solidFill>
            <a:srgbClr val="1E293B"/>
          </a:solidFill>
          <a:ln w="1016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77256" y="1298448"/>
            <a:ext cx="1600200" cy="7315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53328" y="1417320"/>
            <a:ext cx="457200" cy="457200"/>
          </a:xfrm>
          <a:prstGeom prst="ellipse">
            <a:avLst/>
          </a:prstGeom>
          <a:solidFill>
            <a:srgbClr val="FFD166">
              <a:alpha val="2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53328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50408" y="199339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Vendor Accepts Job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68696" y="2578608"/>
            <a:ext cx="1417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taps Accept on WhatsApp. Customer is notified. Lead is deducted from the vendor's balance.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196328" y="1298448"/>
            <a:ext cx="1600200" cy="3291840"/>
          </a:xfrm>
          <a:prstGeom prst="rect">
            <a:avLst/>
          </a:prstGeom>
          <a:solidFill>
            <a:srgbClr val="1E293B"/>
          </a:solidFill>
          <a:ln w="1016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196328" y="1298448"/>
            <a:ext cx="160020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72400" y="1417320"/>
            <a:ext cx="457200" cy="457200"/>
          </a:xfrm>
          <a:prstGeom prst="ellipse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269480" y="199339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 5 Leads → Pay ₹200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287768" y="2578608"/>
            <a:ext cx="1417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auto-pauses vendor, sends payment link. Vendor pays via UPI. ₹200 lands in YOUR Razorpay. Leads unlock instantly.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856232" y="2926080"/>
            <a:ext cx="9144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75304" y="2926080"/>
            <a:ext cx="9144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94376" y="2926080"/>
            <a:ext cx="9144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013448" y="2926080"/>
            <a:ext cx="9144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never talk to anyone. The bot handles everything 24/7.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F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Vendor joins the bot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registration — no app, no form, no technical knowledge needed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3840480" cy="370332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88720"/>
            <a:ext cx="3840480" cy="457200"/>
          </a:xfrm>
          <a:prstGeom prst="rect">
            <a:avLst/>
          </a:prstGeom>
          <a:solidFill>
            <a:srgbClr val="075E54"/>
          </a:solidFill>
          <a:ln w="12700">
            <a:solidFill>
              <a:srgbClr val="075E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43584"/>
            <a:ext cx="347472" cy="347472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435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LB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" y="126187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LocalBot Vendor Portal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" y="1435608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84048" y="1719072"/>
            <a:ext cx="1737360" cy="256032"/>
          </a:xfrm>
          <a:prstGeom prst="rect">
            <a:avLst/>
          </a:prstGeom>
          <a:solidFill>
            <a:srgbClr val="1F2C34"/>
          </a:solidFill>
          <a:ln w="12700">
            <a:solidFill>
              <a:srgbClr val="1F2C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73736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👋 Welcome! Register as vendor or login?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03120" y="2039112"/>
            <a:ext cx="1737360" cy="256032"/>
          </a:xfrm>
          <a:prstGeom prst="rect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57984" y="205740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🆕 Register as new vendor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2359152"/>
            <a:ext cx="1737360" cy="256032"/>
          </a:xfrm>
          <a:prstGeom prst="rect">
            <a:avLst/>
          </a:prstGeom>
          <a:solidFill>
            <a:srgbClr val="1F2C34"/>
          </a:solidFill>
          <a:ln w="12700">
            <a:solidFill>
              <a:srgbClr val="1F2C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37744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your full name?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103120" y="2679192"/>
            <a:ext cx="1737360" cy="256032"/>
          </a:xfrm>
          <a:prstGeom prst="rect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57984" y="269748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Raju Kumar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84048" y="2999232"/>
            <a:ext cx="1737360" cy="329184"/>
          </a:xfrm>
          <a:prstGeom prst="rect">
            <a:avLst/>
          </a:prstGeom>
          <a:solidFill>
            <a:srgbClr val="1F2C34"/>
          </a:solidFill>
          <a:ln w="12700">
            <a:solidFill>
              <a:srgbClr val="1F2C3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01752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service do you provide?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Plumber  ⚡ Electrician  🧹 Cleaner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103120" y="3392424"/>
            <a:ext cx="1737360" cy="256032"/>
          </a:xfrm>
          <a:prstGeom prst="rect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57984" y="3410712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Plumber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84048" y="3712464"/>
            <a:ext cx="1737360" cy="256032"/>
          </a:xfrm>
          <a:prstGeom prst="rect">
            <a:avLst/>
          </a:prstGeom>
          <a:solidFill>
            <a:srgbClr val="1F2C34"/>
          </a:solidFill>
          <a:ln w="12700">
            <a:solidFill>
              <a:srgbClr val="1F2C3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730752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Share your location to match nearby customers.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84048" y="4032504"/>
            <a:ext cx="1737360" cy="329184"/>
          </a:xfrm>
          <a:prstGeom prst="rect">
            <a:avLst/>
          </a:prstGeom>
          <a:solidFill>
            <a:srgbClr val="1F2C34"/>
          </a:solidFill>
          <a:ln w="12700">
            <a:solidFill>
              <a:srgbClr val="1F2C3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405079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Done! 5 FREE leads activated. I'll notify you when a customer is nearby!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480560" y="1188720"/>
            <a:ext cx="4343400" cy="370332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480560" y="1188720"/>
            <a:ext cx="54864" cy="3703320"/>
          </a:xfrm>
          <a:prstGeom prst="rect">
            <a:avLst/>
          </a:prstGeom>
          <a:solidFill>
            <a:srgbClr val="5B8FFF"/>
          </a:solidFill>
          <a:ln w="12700">
            <a:solidFill>
              <a:srgbClr val="5B8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45152" y="124358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gets saved in the database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45152" y="1627632"/>
            <a:ext cx="4023360" cy="347472"/>
          </a:xfrm>
          <a:prstGeom prst="rect">
            <a:avLst/>
          </a:prstGeom>
          <a:solidFill>
            <a:srgbClr val="12202F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16642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8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vendor_id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675120" y="16642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v_raju_001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45152" y="2020824"/>
            <a:ext cx="4023360" cy="347472"/>
          </a:xfrm>
          <a:prstGeom prst="rect">
            <a:avLst/>
          </a:prstGeom>
          <a:solidFill>
            <a:srgbClr val="1E293B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20574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8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name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675120" y="20574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Raju Kumar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45152" y="2414016"/>
            <a:ext cx="4023360" cy="347472"/>
          </a:xfrm>
          <a:prstGeom prst="rect">
            <a:avLst/>
          </a:prstGeom>
          <a:solidFill>
            <a:srgbClr val="12202F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24505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8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service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675120" y="24505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plumber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45152" y="2807208"/>
            <a:ext cx="4023360" cy="347472"/>
          </a:xfrm>
          <a:prstGeom prst="rect">
            <a:avLst/>
          </a:prstGeom>
          <a:solidFill>
            <a:srgbClr val="1E293B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9160" y="284378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8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lat / lng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675120" y="284378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19.1234, 72.84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45152" y="3200400"/>
            <a:ext cx="4023360" cy="347472"/>
          </a:xfrm>
          <a:prstGeom prst="rect">
            <a:avLst/>
          </a:prstGeom>
          <a:solidFill>
            <a:srgbClr val="12202F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0" y="323697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free_leads_used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675120" y="323697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 (max 5)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45152" y="3593592"/>
            <a:ext cx="4023360" cy="347472"/>
          </a:xfrm>
          <a:prstGeom prst="rect">
            <a:avLst/>
          </a:prstGeom>
          <a:solidFill>
            <a:srgbClr val="1E293B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09160" y="36301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paid_leads_balance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675120" y="36301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45152" y="3986784"/>
            <a:ext cx="4023360" cy="347472"/>
          </a:xfrm>
          <a:prstGeom prst="rect">
            <a:avLst/>
          </a:prstGeom>
          <a:solidFill>
            <a:srgbClr val="12202F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09160" y="40233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total_leads_received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675120" y="40233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645152" y="4379976"/>
            <a:ext cx="4023360" cy="347472"/>
          </a:xfrm>
          <a:prstGeom prst="rect">
            <a:avLst/>
          </a:prstGeom>
          <a:solidFill>
            <a:srgbClr val="1E293B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09160" y="441655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status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675120" y="441655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F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books a service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chat flow on the left · What vendor receives on the right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3931920" cy="370332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88720"/>
            <a:ext cx="3931920" cy="411480"/>
          </a:xfrm>
          <a:prstGeom prst="rect">
            <a:avLst/>
          </a:prstGeom>
          <a:solidFill>
            <a:srgbClr val="075E54"/>
          </a:solidFill>
          <a:ln w="12700">
            <a:solidFill>
              <a:srgbClr val="075E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52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LocalBot (Customer side)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84048" y="1673352"/>
            <a:ext cx="1920240" cy="347472"/>
          </a:xfrm>
          <a:prstGeom prst="rect">
            <a:avLst/>
          </a:prstGeom>
          <a:solidFill>
            <a:srgbClr val="1F2C34"/>
          </a:solidFill>
          <a:ln w="12700">
            <a:solidFill>
              <a:srgbClr val="1F2C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700784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👋 Hi! What service do you need?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Plumber ⚡ Electrician 🧹 Cleaner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176272" y="2084832"/>
            <a:ext cx="1920240" cy="246888"/>
          </a:xfrm>
          <a:prstGeom prst="rect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31136" y="211226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Plumber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84048" y="2395728"/>
            <a:ext cx="1920240" cy="246888"/>
          </a:xfrm>
          <a:prstGeom prst="rect">
            <a:avLst/>
          </a:prstGeom>
          <a:solidFill>
            <a:srgbClr val="1F2C34"/>
          </a:solidFill>
          <a:ln w="12700">
            <a:solidFill>
              <a:srgbClr val="1F2C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4231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issue briefly?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176272" y="2706624"/>
            <a:ext cx="1920240" cy="246888"/>
          </a:xfrm>
          <a:prstGeom prst="rect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31136" y="273405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pipe is leaking, urgent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84048" y="3017520"/>
            <a:ext cx="1920240" cy="347472"/>
          </a:xfrm>
          <a:prstGeom prst="rect">
            <a:avLst/>
          </a:prstGeom>
          <a:solidFill>
            <a:srgbClr val="1F2C34"/>
          </a:solidFill>
          <a:ln w="12700">
            <a:solidFill>
              <a:srgbClr val="1F2C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044952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Share your location to find the nearest plumber.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176272" y="3429000"/>
            <a:ext cx="1920240" cy="246888"/>
          </a:xfrm>
          <a:prstGeom prst="rect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31136" y="345643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Location shared — Andheri West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84048" y="3739896"/>
            <a:ext cx="1920240" cy="347472"/>
          </a:xfrm>
          <a:prstGeom prst="rect">
            <a:avLst/>
          </a:prstGeom>
          <a:solidFill>
            <a:srgbClr val="1F2C34"/>
          </a:solidFill>
          <a:ln w="12700">
            <a:solidFill>
              <a:srgbClr val="1F2C3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767328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Found! Raju Kumar — 0.7 km away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4.8 · Booking confirmed!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26280" y="1188720"/>
            <a:ext cx="4297680" cy="370332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26280" y="1188720"/>
            <a:ext cx="429768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26280" y="1243584"/>
            <a:ext cx="54864" cy="364845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90872" y="12527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Vendor receives on WhatsApp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90872" y="1627632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NEW LEAD — 0.7 km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690872" y="1865376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Service: Plumber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690872" y="2103120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Issue: Kitchen pipe leak (URGENT)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690872" y="2340864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──────────────────────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690872" y="2578608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Customer: Priya Sharma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690872" y="2816352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Phone: +91 98765 43210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690872" y="3054096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Flat 4B, Sunflower Apts, Andheri West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690872" y="3291840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8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maps.google.com/?q=19.1196,72.8349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690872" y="3529584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──────────────────────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690872" y="3767328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3 of 5 (free pack)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90872" y="4041648"/>
            <a:ext cx="1828800" cy="292608"/>
          </a:xfrm>
          <a:prstGeom prst="rect">
            <a:avLst/>
          </a:prstGeom>
          <a:solidFill>
            <a:srgbClr val="00C896">
              <a:alpha val="20000"/>
            </a:srgbClr>
          </a:solidFill>
          <a:ln w="10160">
            <a:solidFill>
              <a:srgbClr val="00C8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90872" y="404164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Accept this job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656832" y="4041648"/>
            <a:ext cx="1828800" cy="292608"/>
          </a:xfrm>
          <a:prstGeom prst="rect">
            <a:avLst/>
          </a:prstGeom>
          <a:solidFill>
            <a:srgbClr val="FF4D6D">
              <a:alpha val="20000"/>
            </a:srgbClr>
          </a:solidFill>
          <a:ln w="10160">
            <a:solidFill>
              <a:srgbClr val="FF4D6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56832" y="404164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Decline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F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5 Free → ₹200 Lead Credit System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bot decides whether to send a lead or request payment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261872"/>
            <a:ext cx="475488" cy="475488"/>
          </a:xfrm>
          <a:prstGeom prst="ellipse">
            <a:avLst/>
          </a:prstGeom>
          <a:solidFill>
            <a:srgbClr val="00C896">
              <a:alpha val="25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2618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1752" y="1764792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896112" y="1261872"/>
            <a:ext cx="475488" cy="475488"/>
          </a:xfrm>
          <a:prstGeom prst="ellipse">
            <a:avLst/>
          </a:prstGeom>
          <a:solidFill>
            <a:srgbClr val="00C896">
              <a:alpha val="25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2618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77824" y="1764792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472184" y="1261872"/>
            <a:ext cx="475488" cy="475488"/>
          </a:xfrm>
          <a:prstGeom prst="ellipse">
            <a:avLst/>
          </a:prstGeom>
          <a:solidFill>
            <a:srgbClr val="00C896">
              <a:alpha val="25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72184" y="12618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53896" y="1764792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048256" y="1261872"/>
            <a:ext cx="475488" cy="475488"/>
          </a:xfrm>
          <a:prstGeom prst="ellipse">
            <a:avLst/>
          </a:prstGeom>
          <a:solidFill>
            <a:srgbClr val="00C896">
              <a:alpha val="25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48256" y="12618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29968" y="1764792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624328" y="1261872"/>
            <a:ext cx="475488" cy="475488"/>
          </a:xfrm>
          <a:prstGeom prst="ellipse">
            <a:avLst/>
          </a:prstGeom>
          <a:solidFill>
            <a:srgbClr val="00C896">
              <a:alpha val="25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24328" y="12618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06040" y="1764792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200400" y="1261872"/>
            <a:ext cx="475488" cy="475488"/>
          </a:xfrm>
          <a:prstGeom prst="ellipse">
            <a:avLst/>
          </a:prstGeom>
          <a:solidFill>
            <a:srgbClr val="5B8FFF">
              <a:alpha val="25000"/>
            </a:srgbClr>
          </a:solidFill>
          <a:ln w="12700">
            <a:solidFill>
              <a:srgbClr val="5B8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12618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8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182112" y="1764792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8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₹40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776472" y="1261872"/>
            <a:ext cx="475488" cy="475488"/>
          </a:xfrm>
          <a:prstGeom prst="ellipse">
            <a:avLst/>
          </a:prstGeom>
          <a:solidFill>
            <a:srgbClr val="5B8FFF">
              <a:alpha val="25000"/>
            </a:srgbClr>
          </a:solidFill>
          <a:ln w="12700">
            <a:solidFill>
              <a:srgbClr val="5B8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76472" y="12618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8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758184" y="1764792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8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₹40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352544" y="1261872"/>
            <a:ext cx="475488" cy="475488"/>
          </a:xfrm>
          <a:prstGeom prst="ellipse">
            <a:avLst/>
          </a:prstGeom>
          <a:solidFill>
            <a:srgbClr val="5B8FFF">
              <a:alpha val="25000"/>
            </a:srgbClr>
          </a:solidFill>
          <a:ln w="12700">
            <a:solidFill>
              <a:srgbClr val="5B8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52544" y="12618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8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334256" y="1764792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8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₹40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928616" y="1261872"/>
            <a:ext cx="475488" cy="475488"/>
          </a:xfrm>
          <a:prstGeom prst="ellipse">
            <a:avLst/>
          </a:prstGeom>
          <a:solidFill>
            <a:srgbClr val="5B8FFF">
              <a:alpha val="25000"/>
            </a:srgbClr>
          </a:solidFill>
          <a:ln w="12700">
            <a:solidFill>
              <a:srgbClr val="5B8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28616" y="12618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8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10328" y="1764792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8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₹40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504688" y="1261872"/>
            <a:ext cx="475488" cy="475488"/>
          </a:xfrm>
          <a:prstGeom prst="ellipse">
            <a:avLst/>
          </a:prstGeom>
          <a:solidFill>
            <a:srgbClr val="5B8FFF">
              <a:alpha val="25000"/>
            </a:srgbClr>
          </a:solidFill>
          <a:ln w="12700">
            <a:solidFill>
              <a:srgbClr val="5B8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04688" y="12618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8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0" y="1764792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8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₹40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080760" y="1261872"/>
            <a:ext cx="475488" cy="475488"/>
          </a:xfrm>
          <a:prstGeom prst="ellipse">
            <a:avLst/>
          </a:prstGeom>
          <a:solidFill>
            <a:srgbClr val="94A3B8">
              <a:alpha val="8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80760" y="12618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062472" y="1764792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656832" y="1261872"/>
            <a:ext cx="475488" cy="475488"/>
          </a:xfrm>
          <a:prstGeom prst="ellipse">
            <a:avLst/>
          </a:prstGeom>
          <a:solidFill>
            <a:srgbClr val="94A3B8">
              <a:alpha val="8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56832" y="12618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638544" y="1764792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7232904" y="1261872"/>
            <a:ext cx="475488" cy="475488"/>
          </a:xfrm>
          <a:prstGeom prst="ellipse">
            <a:avLst/>
          </a:prstGeom>
          <a:solidFill>
            <a:srgbClr val="94A3B8">
              <a:alpha val="8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32904" y="12618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214616" y="1764792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7808976" y="1261872"/>
            <a:ext cx="475488" cy="475488"/>
          </a:xfrm>
          <a:prstGeom prst="ellipse">
            <a:avLst/>
          </a:prstGeom>
          <a:solidFill>
            <a:srgbClr val="94A3B8">
              <a:alpha val="8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08976" y="12618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790688" y="1764792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8385048" y="1261872"/>
            <a:ext cx="475488" cy="475488"/>
          </a:xfrm>
          <a:prstGeom prst="ellipse">
            <a:avLst/>
          </a:prstGeom>
          <a:solidFill>
            <a:srgbClr val="94A3B8">
              <a:alpha val="8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85048" y="12618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366760" y="1764792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320040" y="1143000"/>
            <a:ext cx="2880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PACK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200400" y="1143000"/>
            <a:ext cx="2880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8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2  (₹200)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080760" y="114300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3  (₹200)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20040" y="2103120"/>
            <a:ext cx="8503920" cy="155448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457200" y="21579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Bot decision logic — runs before EVERY lead is sent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02920" y="248716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IF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143000" y="248716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3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free_leads_used &lt; 5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069080" y="248716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Send lead free, increment counter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02920" y="283464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8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ELSE IF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1143000" y="283464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3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paid_leads_balance &gt; 0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069080" y="283464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Send lead, deduct 1 from balance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02920" y="318211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ELSE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143000" y="318211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3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(no balance)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069080" y="318211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BLOCK lead, WhatsApp payment link to vendor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320040" y="3840480"/>
            <a:ext cx="2011680" cy="105156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320040" y="3840480"/>
            <a:ext cx="201168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11480" y="39319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Lead 4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411480" y="4206240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 free lead remaining — buy next pack for ₹200"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2496312" y="3840480"/>
            <a:ext cx="2011680" cy="105156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2496312" y="3840480"/>
            <a:ext cx="2011680" cy="54864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587752" y="39319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D6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 lead 5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2587752" y="4206240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"All free leads used! Pay ₹200 → pay.localbot.in/raju001"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672584" y="3840480"/>
            <a:ext cx="2011680" cy="105156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4672584" y="3840480"/>
            <a:ext cx="2011680" cy="54864"/>
          </a:xfrm>
          <a:prstGeom prst="rect">
            <a:avLst/>
          </a:prstGeom>
          <a:solidFill>
            <a:srgbClr val="5B8FFF"/>
          </a:solidFill>
          <a:ln w="12700">
            <a:solidFill>
              <a:srgbClr val="5B8FF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64024" y="39319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8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Last paid lead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4764024" y="4206240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 lead left in your pack — renew now to avoid gaps"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6848856" y="3840480"/>
            <a:ext cx="2011680" cy="105156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6848856" y="3840480"/>
            <a:ext cx="201168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940296" y="39319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Daily reminder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6940296" y="4206240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missed leads today — account paused. Pay ₹200"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F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the vendor pays ₹200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payment link flow — from WhatsApp to leads unlocked in seconds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8503920" cy="685800"/>
          </a:xfrm>
          <a:prstGeom prst="rect">
            <a:avLst/>
          </a:prstGeom>
          <a:solidFill>
            <a:srgbClr val="1E293B"/>
          </a:solidFill>
          <a:ln w="6350">
            <a:solidFill>
              <a:srgbClr val="FF4D6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234440"/>
            <a:ext cx="54864" cy="68580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420624" cy="420624"/>
          </a:xfrm>
          <a:prstGeom prst="ellipse">
            <a:avLst/>
          </a:prstGeom>
          <a:solidFill>
            <a:srgbClr val="FF4D6D">
              <a:alpha val="20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4D6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87552" y="13075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Bot detects zero balance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87552" y="158191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free_leads_used = 5 AND paid_leads_balance = 0 → vendor is paused. Bot generates Razorpay link.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984248"/>
            <a:ext cx="8503920" cy="685800"/>
          </a:xfrm>
          <a:prstGeom prst="rect">
            <a:avLst/>
          </a:prstGeom>
          <a:solidFill>
            <a:srgbClr val="1E293B"/>
          </a:solidFill>
          <a:ln w="6350">
            <a:solidFill>
              <a:srgbClr val="5B8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984248"/>
            <a:ext cx="54864" cy="685800"/>
          </a:xfrm>
          <a:prstGeom prst="rect">
            <a:avLst/>
          </a:prstGeom>
          <a:solidFill>
            <a:srgbClr val="5B8FFF"/>
          </a:solidFill>
          <a:ln w="12700">
            <a:solidFill>
              <a:srgbClr val="5B8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121408"/>
            <a:ext cx="420624" cy="420624"/>
          </a:xfrm>
          <a:prstGeom prst="ellipse">
            <a:avLst/>
          </a:prstGeom>
          <a:solidFill>
            <a:srgbClr val="5B8FFF">
              <a:alpha val="20000"/>
            </a:srgbClr>
          </a:solidFill>
          <a:ln w="12700">
            <a:solidFill>
              <a:srgbClr val="5B8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1214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8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87552" y="2057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Vendor gets WhatsApp link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87552" y="23317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"Pay ₹200 for 5 leads → pay.localbot.in/raju001" — unique per vendor, valid 48 hrs.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734056"/>
            <a:ext cx="8503920" cy="685800"/>
          </a:xfrm>
          <a:prstGeom prst="rect">
            <a:avLst/>
          </a:prstGeom>
          <a:solidFill>
            <a:srgbClr val="1E293B"/>
          </a:solidFill>
          <a:ln w="6350">
            <a:solidFill>
              <a:srgbClr val="00C89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734056"/>
            <a:ext cx="54864" cy="6858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871216"/>
            <a:ext cx="420624" cy="420624"/>
          </a:xfrm>
          <a:prstGeom prst="ellipse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87121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87552" y="28072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Vendor pays via UPI / Card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87552" y="308152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checkout — Google Pay, PhonePe, Paytm, Debit, Credit, Netbanking. Pays in 30 sec.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483864"/>
            <a:ext cx="8503920" cy="685800"/>
          </a:xfrm>
          <a:prstGeom prst="rect">
            <a:avLst/>
          </a:prstGeom>
          <a:solidFill>
            <a:srgbClr val="1E293B"/>
          </a:solidFill>
          <a:ln w="6350">
            <a:solidFill>
              <a:srgbClr val="FFD1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483864"/>
            <a:ext cx="54864" cy="6858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621024"/>
            <a:ext cx="420624" cy="420624"/>
          </a:xfrm>
          <a:prstGeom prst="ellipse">
            <a:avLst/>
          </a:prstGeom>
          <a:solidFill>
            <a:srgbClr val="FFD166">
              <a:alpha val="2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62102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87552" y="355701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Razorpay fires webhook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87552" y="3831336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to your server: payment.captured event with vendor_id in notes. Arrives in &lt; 1 second.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4233672"/>
            <a:ext cx="8503920" cy="685800"/>
          </a:xfrm>
          <a:prstGeom prst="rect">
            <a:avLst/>
          </a:prstGeom>
          <a:solidFill>
            <a:srgbClr val="1E293B"/>
          </a:solidFill>
          <a:ln w="6350">
            <a:solidFill>
              <a:srgbClr val="00C89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4233672"/>
            <a:ext cx="54864" cy="6858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370832"/>
            <a:ext cx="420624" cy="420624"/>
          </a:xfrm>
          <a:prstGeom prst="ellipse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37083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87552" y="43068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 unlocks 5 leads instantly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87552" y="4581144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paid_leads_balance = 5, status = active. Bot WhatsApps: "✅ 5 leads unlocked!"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4800600"/>
            <a:ext cx="8503920" cy="246888"/>
          </a:xfrm>
          <a:prstGeom prst="rect">
            <a:avLst/>
          </a:prstGeom>
          <a:solidFill>
            <a:srgbClr val="0A0A0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80974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8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Webhook handler →  db.update(vendor_id, { paid_leads_balance: 5, status: 'active' })  →  sendWhatsApp('5 leads unlocked!')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F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money reaches YOUR account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flow of ₹200 from vendor's UPI to your bank — T+2 days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822960" cy="822960"/>
          </a:xfrm>
          <a:prstGeom prst="ellipse">
            <a:avLst/>
          </a:prstGeom>
          <a:solidFill>
            <a:srgbClr val="FF6B35">
              <a:alpha val="20000"/>
            </a:srgbClr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44168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F3EE"/>
                </a:solidFill>
              </a:rPr>
              <a:t>👷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21762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Vendor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24231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₹200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371600" y="1709928"/>
            <a:ext cx="786384" cy="0"/>
          </a:xfrm>
          <a:prstGeom prst="line">
            <a:avLst/>
          </a:prstGeom>
          <a:noFill/>
          <a:ln w="19050">
            <a:solidFill>
              <a:srgbClr val="00C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89888" y="1572768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03704" y="1298448"/>
            <a:ext cx="822960" cy="822960"/>
          </a:xfrm>
          <a:prstGeom prst="ellipse">
            <a:avLst/>
          </a:prstGeom>
          <a:solidFill>
            <a:srgbClr val="5B8FFF">
              <a:alpha val="20000"/>
            </a:srgbClr>
          </a:solidFill>
          <a:ln w="19050">
            <a:solidFill>
              <a:srgbClr val="5B8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03704" y="1344168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F3EE"/>
                </a:solidFill>
              </a:rPr>
              <a:t>📱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066544" y="21762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UPI / Card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66544" y="24231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Pay etc.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072384" y="1709928"/>
            <a:ext cx="786384" cy="0"/>
          </a:xfrm>
          <a:prstGeom prst="line">
            <a:avLst/>
          </a:prstGeom>
          <a:noFill/>
          <a:ln w="19050">
            <a:solidFill>
              <a:srgbClr val="00C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90672" y="1572768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904488" y="1298448"/>
            <a:ext cx="822960" cy="822960"/>
          </a:xfrm>
          <a:prstGeom prst="ellipse">
            <a:avLst/>
          </a:prstGeom>
          <a:solidFill>
            <a:srgbClr val="5B8FFF">
              <a:alpha val="20000"/>
            </a:srgbClr>
          </a:solidFill>
          <a:ln w="19050">
            <a:solidFill>
              <a:srgbClr val="5B8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04488" y="1344168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F3EE"/>
                </a:solidFill>
              </a:rPr>
              <a:t>💳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767328" y="21762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Razorpay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67328" y="24231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payment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73168" y="1709928"/>
            <a:ext cx="786384" cy="0"/>
          </a:xfrm>
          <a:prstGeom prst="line">
            <a:avLst/>
          </a:prstGeom>
          <a:noFill/>
          <a:ln w="19050">
            <a:solidFill>
              <a:srgbClr val="00C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91456" y="1572768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605272" y="1298448"/>
            <a:ext cx="822960" cy="822960"/>
          </a:xfrm>
          <a:prstGeom prst="ellipse">
            <a:avLst/>
          </a:prstGeom>
          <a:solidFill>
            <a:srgbClr val="00C896">
              <a:alpha val="20000"/>
            </a:srgbClr>
          </a:solidFill>
          <a:ln w="19050">
            <a:solidFill>
              <a:srgbClr val="00C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05272" y="1344168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F3EE"/>
                </a:solidFill>
              </a:rPr>
              <a:t>🏦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468112" y="21762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bank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68112" y="24231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settles T+2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73952" y="1709928"/>
            <a:ext cx="786384" cy="0"/>
          </a:xfrm>
          <a:prstGeom prst="line">
            <a:avLst/>
          </a:prstGeom>
          <a:noFill/>
          <a:ln w="19050">
            <a:solidFill>
              <a:srgbClr val="00C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1572768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306056" y="1298448"/>
            <a:ext cx="822960" cy="822960"/>
          </a:xfrm>
          <a:prstGeom prst="ellipse">
            <a:avLst/>
          </a:prstGeom>
          <a:solidFill>
            <a:srgbClr val="00C896">
              <a:alpha val="20000"/>
            </a:srgbClr>
          </a:solidFill>
          <a:ln w="19050">
            <a:solidFill>
              <a:srgbClr val="00C8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06056" y="1344168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F3EE"/>
                </a:solidFill>
              </a:rPr>
              <a:t>📲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168896" y="21762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phone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168896" y="24231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+ dashboard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0040" y="281635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One-time Razorpay setup (30 minutes)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20040" y="3154680"/>
            <a:ext cx="2011680" cy="178308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097280" y="3218688"/>
            <a:ext cx="384048" cy="384048"/>
          </a:xfrm>
          <a:prstGeom prst="ellipse">
            <a:avLst/>
          </a:prstGeom>
          <a:solidFill>
            <a:srgbClr val="5B8FFF">
              <a:alpha val="20000"/>
            </a:srgbClr>
          </a:solidFill>
          <a:ln w="12700">
            <a:solidFill>
              <a:srgbClr val="5B8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97280" y="3218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8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11480" y="36576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Razorpay account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11480" y="4041648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razorpay.com → Sign up → KYC with Aadhaar + PAN + Bank Account (1–2 day approval)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496312" y="3154680"/>
            <a:ext cx="2011680" cy="178308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273552" y="3218688"/>
            <a:ext cx="384048" cy="384048"/>
          </a:xfrm>
          <a:prstGeom prst="ellipse">
            <a:avLst/>
          </a:prstGeom>
          <a:solidFill>
            <a:srgbClr val="5B8FFF">
              <a:alpha val="20000"/>
            </a:srgbClr>
          </a:solidFill>
          <a:ln w="12700">
            <a:solidFill>
              <a:srgbClr val="5B8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73552" y="3218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8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2587752" y="36576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your bank account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587752" y="4041648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→ Settings → Bank Account → Auto-settlement every 2 working days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72584" y="3154680"/>
            <a:ext cx="2011680" cy="178308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449824" y="3218688"/>
            <a:ext cx="384048" cy="384048"/>
          </a:xfrm>
          <a:prstGeom prst="ellipse">
            <a:avLst/>
          </a:prstGeom>
          <a:solidFill>
            <a:srgbClr val="5B8FFF">
              <a:alpha val="20000"/>
            </a:srgbClr>
          </a:solidFill>
          <a:ln w="12700">
            <a:solidFill>
              <a:srgbClr val="5B8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49824" y="3218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8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764024" y="36576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 API keys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764024" y="4041648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API Keys → Copy Key ID + Key Secret → Add to your bot server .env file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848856" y="3154680"/>
            <a:ext cx="2011680" cy="178308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7626096" y="3218688"/>
            <a:ext cx="384048" cy="384048"/>
          </a:xfrm>
          <a:prstGeom prst="ellipse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626096" y="3218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940296" y="36576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 webhook URL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940296" y="4041648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Webhooks → Add your server URL → Select event: payment.captured → Save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20040" y="4846320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charges ~2% per transaction (₹4 on ₹200). You receive ₹196 per pack. Settlement arrives in your bank in T+2 working days.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F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vendor sees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commands + web dashboard — everything inside their phone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3840480" cy="370332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618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WhatsApp commands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627632"/>
            <a:ext cx="356616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627632"/>
            <a:ext cx="914400" cy="457200"/>
          </a:xfrm>
          <a:prstGeom prst="rect">
            <a:avLst/>
          </a:prstGeom>
          <a:solidFill>
            <a:srgbClr val="5B8FFF">
              <a:alpha val="15000"/>
            </a:srgbClr>
          </a:solidFill>
          <a:ln w="6350">
            <a:solidFill>
              <a:srgbClr val="5B8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2763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8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17320" y="171907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lead balance &amp; pack info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157984"/>
            <a:ext cx="3566160" cy="457200"/>
          </a:xfrm>
          <a:prstGeom prst="rect">
            <a:avLst/>
          </a:prstGeom>
          <a:solidFill>
            <a:srgbClr val="12202F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2157984"/>
            <a:ext cx="914400" cy="457200"/>
          </a:xfrm>
          <a:prstGeom prst="rect">
            <a:avLst/>
          </a:prstGeom>
          <a:solidFill>
            <a:srgbClr val="00C896">
              <a:alpha val="15000"/>
            </a:srgbClr>
          </a:solidFill>
          <a:ln w="6350">
            <a:solidFill>
              <a:srgbClr val="00C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157984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17320" y="224942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receiving leads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688336"/>
            <a:ext cx="356616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688336"/>
            <a:ext cx="914400" cy="457200"/>
          </a:xfrm>
          <a:prstGeom prst="rect">
            <a:avLst/>
          </a:prstGeom>
          <a:solidFill>
            <a:srgbClr val="FF4D6D">
              <a:alpha val="15000"/>
            </a:srgbClr>
          </a:solidFill>
          <a:ln w="6350">
            <a:solidFill>
              <a:srgbClr val="FF4D6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688336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417320" y="277977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lead delivery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3218688"/>
            <a:ext cx="3566160" cy="457200"/>
          </a:xfrm>
          <a:prstGeom prst="rect">
            <a:avLst/>
          </a:prstGeom>
          <a:solidFill>
            <a:srgbClr val="12202F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3218688"/>
            <a:ext cx="914400" cy="457200"/>
          </a:xfrm>
          <a:prstGeom prst="rect">
            <a:avLst/>
          </a:prstGeom>
          <a:solidFill>
            <a:srgbClr val="FFD166">
              <a:alpha val="15000"/>
            </a:srgbClr>
          </a:solidFill>
          <a:ln w="6350">
            <a:solidFill>
              <a:srgbClr val="FFD1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21868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TOPUP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417320" y="33101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₹200 payment link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3749040"/>
            <a:ext cx="3566160" cy="457200"/>
          </a:xfrm>
          <a:prstGeom prst="rect">
            <a:avLst/>
          </a:prstGeom>
          <a:solidFill>
            <a:srgbClr val="1E293B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3749040"/>
            <a:ext cx="914400" cy="457200"/>
          </a:xfrm>
          <a:prstGeom prst="rect">
            <a:avLst/>
          </a:prstGeom>
          <a:solidFill>
            <a:srgbClr val="FF6B35">
              <a:alpha val="15000"/>
            </a:srgbClr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7490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417320" y="38404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last 10 jobs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4279392"/>
            <a:ext cx="3566160" cy="457200"/>
          </a:xfrm>
          <a:prstGeom prst="rect">
            <a:avLst/>
          </a:prstGeom>
          <a:solidFill>
            <a:srgbClr val="12202F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4279392"/>
            <a:ext cx="914400" cy="457200"/>
          </a:xfrm>
          <a:prstGeom prst="rect">
            <a:avLst/>
          </a:prstGeom>
          <a:solidFill>
            <a:srgbClr val="94A3B8">
              <a:alpha val="15000"/>
            </a:srgbClr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27939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417320" y="43708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all commands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434840" y="1188720"/>
            <a:ext cx="4389120" cy="370332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434840" y="1188720"/>
            <a:ext cx="4389120" cy="38404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26280" y="1243584"/>
            <a:ext cx="292608" cy="292608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26280" y="12435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RK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92040" y="126187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Raju Kumar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589520" y="1261872"/>
            <a:ext cx="1005840" cy="219456"/>
          </a:xfrm>
          <a:prstGeom prst="rect">
            <a:avLst/>
          </a:prstGeom>
          <a:solidFill>
            <a:srgbClr val="00C896">
              <a:alpha val="15000"/>
            </a:srgbClr>
          </a:solidFill>
          <a:ln w="6350">
            <a:solidFill>
              <a:srgbClr val="00C8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0" y="1261872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Active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26280" y="1664208"/>
            <a:ext cx="960120" cy="658368"/>
          </a:xfrm>
          <a:prstGeom prst="rect">
            <a:avLst/>
          </a:prstGeom>
          <a:solidFill>
            <a:srgbClr val="1A1A1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53712" y="1700784"/>
            <a:ext cx="9052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leads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553712" y="1892808"/>
            <a:ext cx="9052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5577840" y="1664208"/>
            <a:ext cx="960120" cy="658368"/>
          </a:xfrm>
          <a:prstGeom prst="rect">
            <a:avLst/>
          </a:prstGeom>
          <a:solidFill>
            <a:srgbClr val="1A1A1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05272" y="1700784"/>
            <a:ext cx="9052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used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605272" y="1892808"/>
            <a:ext cx="9052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6629400" y="1664208"/>
            <a:ext cx="960120" cy="658368"/>
          </a:xfrm>
          <a:prstGeom prst="rect">
            <a:avLst/>
          </a:prstGeom>
          <a:solidFill>
            <a:srgbClr val="1A1A1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56832" y="1700784"/>
            <a:ext cx="9052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656832" y="1892808"/>
            <a:ext cx="9052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8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7680960" y="1664208"/>
            <a:ext cx="960120" cy="658368"/>
          </a:xfrm>
          <a:prstGeom prst="rect">
            <a:avLst/>
          </a:prstGeom>
          <a:solidFill>
            <a:srgbClr val="1A1A1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08392" y="1700784"/>
            <a:ext cx="9052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708392" y="1892808"/>
            <a:ext cx="9052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₹200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4572000" y="242316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2 progress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589520" y="242316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526280" y="2651760"/>
            <a:ext cx="4114800" cy="128016"/>
          </a:xfrm>
          <a:prstGeom prst="rect">
            <a:avLst/>
          </a:prstGeom>
          <a:solidFill>
            <a:srgbClr val="0E0E0E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26280" y="2651760"/>
            <a:ext cx="2468880" cy="128016"/>
          </a:xfrm>
          <a:prstGeom prst="rect">
            <a:avLst/>
          </a:prstGeom>
          <a:solidFill>
            <a:srgbClr val="5B8FFF"/>
          </a:solidFill>
          <a:ln w="12700">
            <a:solidFill>
              <a:srgbClr val="5B8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0" y="288950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leads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526280" y="3127248"/>
            <a:ext cx="4114800" cy="292608"/>
          </a:xfrm>
          <a:prstGeom prst="rect">
            <a:avLst/>
          </a:prstGeom>
          <a:solidFill>
            <a:srgbClr val="1A1A1A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17720" y="3163824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Sharma · Pipe leak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635240" y="3163824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526280" y="3474720"/>
            <a:ext cx="4114800" cy="292608"/>
          </a:xfrm>
          <a:prstGeom prst="rect">
            <a:avLst/>
          </a:prstGeom>
          <a:solidFill>
            <a:srgbClr val="1A1A1A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17720" y="3511296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Verma · Tap repair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635240" y="3511296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526280" y="3822192"/>
            <a:ext cx="4114800" cy="292608"/>
          </a:xfrm>
          <a:prstGeom prst="rect">
            <a:avLst/>
          </a:prstGeom>
          <a:solidFill>
            <a:srgbClr val="1A1A1A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617720" y="3858768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Neha Joshi · Bathroom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635240" y="385876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Pending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F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potential &amp; scaling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you can earn — and what it costs to run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298448"/>
            <a:ext cx="2011680" cy="123444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98448"/>
            <a:ext cx="201168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4173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11480" y="2066544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vendor (first 5)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96312" y="1298448"/>
            <a:ext cx="2011680" cy="123444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96312" y="1298448"/>
            <a:ext cx="2011680" cy="54864"/>
          </a:xfrm>
          <a:prstGeom prst="rect">
            <a:avLst/>
          </a:prstGeom>
          <a:solidFill>
            <a:srgbClr val="5B8FFF"/>
          </a:solidFill>
          <a:ln w="12700">
            <a:solidFill>
              <a:srgbClr val="5B8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96312" y="14173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B8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₹200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587752" y="2066544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5 leads after that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72584" y="1298448"/>
            <a:ext cx="2011680" cy="123444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72584" y="1298448"/>
            <a:ext cx="201168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72584" y="14173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₹40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764024" y="2066544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cost per lead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48856" y="1298448"/>
            <a:ext cx="2011680" cy="123444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48856" y="1298448"/>
            <a:ext cx="201168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48856" y="14173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T+2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940296" y="2066544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to hit your bank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697480"/>
            <a:ext cx="5120640" cy="192024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276148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Monthly revenue estimates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84048" y="3054096"/>
            <a:ext cx="1170432" cy="256032"/>
          </a:xfrm>
          <a:prstGeom prst="rect">
            <a:avLst/>
          </a:prstGeom>
          <a:solidFill>
            <a:srgbClr val="1A1A1A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" y="3072384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618488" y="3054096"/>
            <a:ext cx="1170432" cy="256032"/>
          </a:xfrm>
          <a:prstGeom prst="rect">
            <a:avLst/>
          </a:prstGeom>
          <a:solidFill>
            <a:srgbClr val="1A1A1A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55064" y="3072384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Packs/month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852928" y="3054096"/>
            <a:ext cx="1170432" cy="256032"/>
          </a:xfrm>
          <a:prstGeom prst="rect">
            <a:avLst/>
          </a:prstGeom>
          <a:solidFill>
            <a:srgbClr val="1A1A1A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89504" y="3072384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₹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087368" y="3054096"/>
            <a:ext cx="1170432" cy="256032"/>
          </a:xfrm>
          <a:prstGeom prst="rect">
            <a:avLst/>
          </a:prstGeom>
          <a:solidFill>
            <a:srgbClr val="1A1A1A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23944" y="3072384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₹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84048" y="3355848"/>
            <a:ext cx="1170432" cy="256032"/>
          </a:xfrm>
          <a:prstGeom prst="rect">
            <a:avLst/>
          </a:prstGeom>
          <a:solidFill>
            <a:srgbClr val="12202F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" y="3374136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618488" y="3355848"/>
            <a:ext cx="1170432" cy="256032"/>
          </a:xfrm>
          <a:prstGeom prst="rect">
            <a:avLst/>
          </a:prstGeom>
          <a:solidFill>
            <a:srgbClr val="12202F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55064" y="3374136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852928" y="3355848"/>
            <a:ext cx="1170432" cy="256032"/>
          </a:xfrm>
          <a:prstGeom prst="rect">
            <a:avLst/>
          </a:prstGeom>
          <a:solidFill>
            <a:srgbClr val="12202F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889504" y="3374136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₹8,000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087368" y="3355848"/>
            <a:ext cx="1170432" cy="256032"/>
          </a:xfrm>
          <a:prstGeom prst="rect">
            <a:avLst/>
          </a:prstGeom>
          <a:solidFill>
            <a:srgbClr val="12202F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23944" y="3374136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₹96,000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84048" y="3657600"/>
            <a:ext cx="1170432" cy="256032"/>
          </a:xfrm>
          <a:prstGeom prst="rect">
            <a:avLst/>
          </a:prstGeom>
          <a:solidFill>
            <a:srgbClr val="1E293B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0624" y="367588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618488" y="3657600"/>
            <a:ext cx="1170432" cy="256032"/>
          </a:xfrm>
          <a:prstGeom prst="rect">
            <a:avLst/>
          </a:prstGeom>
          <a:solidFill>
            <a:srgbClr val="1E293B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655064" y="367588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852928" y="3657600"/>
            <a:ext cx="1170432" cy="256032"/>
          </a:xfrm>
          <a:prstGeom prst="rect">
            <a:avLst/>
          </a:prstGeom>
          <a:solidFill>
            <a:srgbClr val="1E293B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889504" y="367588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₹20,000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087368" y="3657600"/>
            <a:ext cx="1170432" cy="256032"/>
          </a:xfrm>
          <a:prstGeom prst="rect">
            <a:avLst/>
          </a:prstGeom>
          <a:solidFill>
            <a:srgbClr val="1E293B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23944" y="367588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₹2,40,000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84048" y="3959352"/>
            <a:ext cx="1170432" cy="256032"/>
          </a:xfrm>
          <a:prstGeom prst="rect">
            <a:avLst/>
          </a:prstGeom>
          <a:solidFill>
            <a:srgbClr val="12202F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0624" y="3977640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1618488" y="3959352"/>
            <a:ext cx="1170432" cy="256032"/>
          </a:xfrm>
          <a:prstGeom prst="rect">
            <a:avLst/>
          </a:prstGeom>
          <a:solidFill>
            <a:srgbClr val="12202F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655064" y="3977640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852928" y="3959352"/>
            <a:ext cx="1170432" cy="256032"/>
          </a:xfrm>
          <a:prstGeom prst="rect">
            <a:avLst/>
          </a:prstGeom>
          <a:solidFill>
            <a:srgbClr val="12202F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889504" y="3977640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₹60,000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087368" y="3959352"/>
            <a:ext cx="1170432" cy="256032"/>
          </a:xfrm>
          <a:prstGeom prst="rect">
            <a:avLst/>
          </a:prstGeom>
          <a:solidFill>
            <a:srgbClr val="12202F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23944" y="3977640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₹7,20,000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84048" y="4261104"/>
            <a:ext cx="1170432" cy="256032"/>
          </a:xfrm>
          <a:prstGeom prst="rect">
            <a:avLst/>
          </a:prstGeom>
          <a:solidFill>
            <a:srgbClr val="1E293B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20624" y="4279392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1618488" y="4261104"/>
            <a:ext cx="1170432" cy="256032"/>
          </a:xfrm>
          <a:prstGeom prst="rect">
            <a:avLst/>
          </a:prstGeom>
          <a:solidFill>
            <a:srgbClr val="1E293B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655064" y="4279392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2852928" y="4261104"/>
            <a:ext cx="1170432" cy="256032"/>
          </a:xfrm>
          <a:prstGeom prst="rect">
            <a:avLst/>
          </a:prstGeom>
          <a:solidFill>
            <a:srgbClr val="1E293B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889504" y="4279392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₹1,20,000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087368" y="4261104"/>
            <a:ext cx="1170432" cy="256032"/>
          </a:xfrm>
          <a:prstGeom prst="rect">
            <a:avLst/>
          </a:prstGeom>
          <a:solidFill>
            <a:srgbClr val="1E293B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23944" y="4279392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₹14,40,000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5715000" y="2697480"/>
            <a:ext cx="3108960" cy="192024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5852160" y="276148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Monthly running costs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5779008" y="3054096"/>
            <a:ext cx="2971800" cy="256032"/>
          </a:xfrm>
          <a:prstGeom prst="rect">
            <a:avLst/>
          </a:prstGeom>
          <a:solidFill>
            <a:srgbClr val="1E293B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833872" y="30815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API (360dialog)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7680960" y="308152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₹3,000–5,000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5779008" y="3342132"/>
            <a:ext cx="2971800" cy="256032"/>
          </a:xfrm>
          <a:prstGeom prst="rect">
            <a:avLst/>
          </a:prstGeom>
          <a:solidFill>
            <a:srgbClr val="12202F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833872" y="336956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(Railway.app)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7680960" y="336956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₹0–800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5779008" y="3630168"/>
            <a:ext cx="2971800" cy="256032"/>
          </a:xfrm>
          <a:prstGeom prst="rect">
            <a:avLst/>
          </a:prstGeom>
          <a:solidFill>
            <a:srgbClr val="1E293B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833872" y="36576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(Supabase)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7680960" y="365760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5779008" y="3918204"/>
            <a:ext cx="2971800" cy="256032"/>
          </a:xfrm>
          <a:prstGeom prst="rect">
            <a:avLst/>
          </a:prstGeom>
          <a:solidFill>
            <a:srgbClr val="12202F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833872" y="394563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(2% per txn)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7680960" y="394563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~₹4/pack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5779008" y="4206240"/>
            <a:ext cx="2971800" cy="256032"/>
          </a:xfrm>
          <a:prstGeom prst="rect">
            <a:avLst/>
          </a:prstGeom>
          <a:solidFill>
            <a:srgbClr val="1E293B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833872" y="423367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API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7680960" y="423367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 (free tier)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5779008" y="4494276"/>
            <a:ext cx="2971800" cy="256032"/>
          </a:xfrm>
          <a:prstGeom prst="rect">
            <a:avLst/>
          </a:prstGeom>
          <a:solidFill>
            <a:srgbClr val="1A1A1A"/>
          </a:solidFill>
          <a:ln w="7620">
            <a:solidFill>
              <a:srgbClr val="00C89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833872" y="452170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fixed / month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7680960" y="452170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~₹4,000–6,000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320040" y="4773168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Break-even: Just 20–30 paid packs/month covers ALL costs. Everything above that is pure profit.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F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 to build LocalBot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tools you need — most have free tiers to start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261872"/>
            <a:ext cx="2697480" cy="173736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61872"/>
            <a:ext cx="269748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408176"/>
            <a:ext cx="1005840" cy="237744"/>
          </a:xfrm>
          <a:prstGeom prst="rect">
            <a:avLst/>
          </a:prstGeom>
          <a:solidFill>
            <a:srgbClr val="00C896">
              <a:alpha val="15000"/>
            </a:srgbClr>
          </a:solidFill>
          <a:ln w="6350">
            <a:solidFill>
              <a:srgbClr val="00C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0817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API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9768" y="17190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360dialog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29768" y="2084832"/>
            <a:ext cx="24871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one bot number for both customer &amp; vendor. ₹3,000–5,000/month.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9768" y="2788920"/>
            <a:ext cx="2487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360dialog.com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27832" y="1261872"/>
            <a:ext cx="2697480" cy="173736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27832" y="1261872"/>
            <a:ext cx="2697480" cy="54864"/>
          </a:xfrm>
          <a:prstGeom prst="rect">
            <a:avLst/>
          </a:prstGeom>
          <a:solidFill>
            <a:srgbClr val="5B8FFF"/>
          </a:solidFill>
          <a:ln w="12700">
            <a:solidFill>
              <a:srgbClr val="5B8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9272" y="1408176"/>
            <a:ext cx="1005840" cy="237744"/>
          </a:xfrm>
          <a:prstGeom prst="rect">
            <a:avLst/>
          </a:prstGeom>
          <a:solidFill>
            <a:srgbClr val="5B8FFF">
              <a:alpha val="15000"/>
            </a:srgbClr>
          </a:solidFill>
          <a:ln w="6350">
            <a:solidFill>
              <a:srgbClr val="5B8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9272" y="140817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8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37560" y="17190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Razorpay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337560" y="2084832"/>
            <a:ext cx="24871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links, webhooks, auto-settlement to your bank. 2% fee.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37560" y="2788920"/>
            <a:ext cx="2487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8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razorpay.com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35624" y="1261872"/>
            <a:ext cx="2697480" cy="173736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35624" y="1261872"/>
            <a:ext cx="269748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27064" y="1408176"/>
            <a:ext cx="1005840" cy="237744"/>
          </a:xfrm>
          <a:prstGeom prst="rect">
            <a:avLst/>
          </a:prstGeom>
          <a:solidFill>
            <a:srgbClr val="FFD166">
              <a:alpha val="15000"/>
            </a:srgbClr>
          </a:solidFill>
          <a:ln w="6350">
            <a:solidFill>
              <a:srgbClr val="FFD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27064" y="140817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&amp; Location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45352" y="17190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Maps API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245352" y="2084832"/>
            <a:ext cx="24871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Geocoding + 1 km radius check. Free up to 200 calls/day.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245352" y="2788920"/>
            <a:ext cx="2487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maps.googleapis.com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3163824"/>
            <a:ext cx="2697480" cy="173736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163824"/>
            <a:ext cx="269748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3310128"/>
            <a:ext cx="1005840" cy="237744"/>
          </a:xfrm>
          <a:prstGeom prst="rect">
            <a:avLst/>
          </a:prstGeom>
          <a:solidFill>
            <a:srgbClr val="FF6B35">
              <a:alpha val="15000"/>
            </a:srgbClr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31012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29768" y="362102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Node.js + Railway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29768" y="3986784"/>
            <a:ext cx="24871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server for bot logic, webhook handler. Free hosting.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29768" y="4690872"/>
            <a:ext cx="2487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railway.app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27832" y="3163824"/>
            <a:ext cx="2697480" cy="173736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27832" y="3163824"/>
            <a:ext cx="2697480" cy="54864"/>
          </a:xfrm>
          <a:prstGeom prst="rect">
            <a:avLst/>
          </a:prstGeom>
          <a:solidFill>
            <a:srgbClr val="5B8FFF"/>
          </a:solidFill>
          <a:ln w="12700">
            <a:solidFill>
              <a:srgbClr val="5B8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19272" y="3310128"/>
            <a:ext cx="1005840" cy="237744"/>
          </a:xfrm>
          <a:prstGeom prst="rect">
            <a:avLst/>
          </a:prstGeom>
          <a:solidFill>
            <a:srgbClr val="5B8FFF">
              <a:alpha val="15000"/>
            </a:srgbClr>
          </a:solidFill>
          <a:ln w="6350">
            <a:solidFill>
              <a:srgbClr val="5B8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19272" y="331012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8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337560" y="362102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Supabase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3337560" y="3986784"/>
            <a:ext cx="24871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profiles, lead counts, payments. PostgreSQL. Free tier.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337560" y="4690872"/>
            <a:ext cx="2487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8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supabase.com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135624" y="3163824"/>
            <a:ext cx="2697480" cy="173736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35624" y="3163824"/>
            <a:ext cx="269748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27064" y="3310128"/>
            <a:ext cx="1005840" cy="237744"/>
          </a:xfrm>
          <a:prstGeom prst="rect">
            <a:avLst/>
          </a:prstGeom>
          <a:solidFill>
            <a:srgbClr val="00C896">
              <a:alpha val="15000"/>
            </a:srgbClr>
          </a:solidFill>
          <a:ln w="6350">
            <a:solidFill>
              <a:srgbClr val="00C89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27064" y="331012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builder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245352" y="362102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Botpress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245352" y="3986784"/>
            <a:ext cx="24871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flow builder — no coding needed for conversation logic.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245352" y="4690872"/>
            <a:ext cx="2487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botpress.com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have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F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Everything.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4864" cy="3474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72821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bot works end-to-end — customer to vendor, automated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185416"/>
            <a:ext cx="54864" cy="347472"/>
          </a:xfrm>
          <a:prstGeom prst="rect">
            <a:avLst/>
          </a:prstGeom>
          <a:solidFill>
            <a:srgbClr val="5B8FFF"/>
          </a:solidFill>
          <a:ln w="12700">
            <a:solidFill>
              <a:srgbClr val="5B8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221992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vendor registers and gets 5 free leads via WhatsApp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79192"/>
            <a:ext cx="54864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71576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1 km radius check decides who gets the lead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172968"/>
            <a:ext cx="54864" cy="3474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209544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credit system blocks at 5, requests ₹200, unlocks 5 more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666744"/>
            <a:ext cx="54864" cy="3474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703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Razorpay webhook fires, server unlocks leads in &lt; 1 second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160520"/>
            <a:ext cx="54864" cy="347472"/>
          </a:xfrm>
          <a:prstGeom prst="rect">
            <a:avLst/>
          </a:prstGeom>
          <a:solidFill>
            <a:srgbClr val="5B8FFF"/>
          </a:solidFill>
          <a:ln w="12700">
            <a:solidFill>
              <a:srgbClr val="5B8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419709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₹200 settles into YOUR bank account in T+2 days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626864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 with 10 vendors · 1 service category · 1 locality — validate, then scale.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LocalBot — Complete Business Guide</dc:title>
  <dc:subject>PptxGenJS Presentation</dc:subject>
  <dc:creator>PptxGenJS</dc:creator>
  <cp:lastModifiedBy>PptxGenJS</cp:lastModifiedBy>
  <cp:revision>1</cp:revision>
  <dcterms:created xsi:type="dcterms:W3CDTF">2026-03-18T14:54:22Z</dcterms:created>
  <dcterms:modified xsi:type="dcterms:W3CDTF">2026-03-18T14:54:22Z</dcterms:modified>
</cp:coreProperties>
</file>